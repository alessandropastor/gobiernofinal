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_bcrp/logo_upe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188720" cy="66751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PERUANA UNIÓN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201168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Facultad de Ingeniería y Arquitectura — Escuela de Ingeniería de Sistemas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DEL SISTEMA DE GOBIERNO DE TI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31520" y="3154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Central de Reserva del Perú (BCRP)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del Marco COBIT® 2019 — Modelo Cascada y Kit de Diseño ISACA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4343400"/>
            <a:ext cx="3657600" cy="0"/>
          </a:xfrm>
          <a:prstGeom prst="line">
            <a:avLst/>
          </a:prstGeom>
          <a:noFill/>
          <a:ln w="19050">
            <a:solidFill>
              <a:srgbClr val="C996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8646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D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Cabana Sulca, Cristian   ·   Pastor Mamani Mamani, Alessandro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D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Lino Montes Mamani, Andrés   ·   Fernández Sánchez, Jerson Jean Piero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5623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Docente: Ing. Rick Armando Ccapa Luque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Lima, Perú —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EXPOSICIÓN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en Cascada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54480" y="215798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objetivos institucionales a los procesos COBIT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54480" y="2697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Diseño ISACA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30266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10 Factores de Diseño aplicados al BCRP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54480" y="3566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y verificación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389534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Consistencia entre ambas herramientas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4348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54480" y="4434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7 Componentes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476402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materializa cada proceso priorizado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3035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54480" y="5303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563270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Hallazgos y siguiente fase del proyecto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BCRP · Gobierno de TI · COBIT 2019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1 DE LA CASCADA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Institucionales → Metas Corporativas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5 objetivos institucionales del Plan Estratégico BCRP (OE4, OE10, OE14, OE1/OE5, OE9). Escala: 0 = sin relación · 1 = secundaria · 2 = directa. Prioridad Alta desde 6 puntos.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731520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Corporativa COBIT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Puntaje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EG08 — Optimización de procesos internos del negocio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0E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EG06 — Continuidad y disponibilidad del servicio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EG12 — Programas de transformación digital gestionados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EG02 — Riesgos de negocio gestionado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EG07 — Calidad de la información gerencial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EG11 — Cumplimiento con políticas internas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EG03 — Cumplimiento con leyes externas y regulaciones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2194560"/>
            <a:ext cx="3383280" cy="3657600"/>
          </a:xfrm>
          <a:prstGeom prst="roundRect">
            <a:avLst>
              <a:gd name="adj" fmla="val 2162"/>
            </a:avLst>
          </a:prstGeom>
          <a:solidFill>
            <a:srgbClr val="0F2A4A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24231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metas corporativas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priorizadas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0" y="3154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Pasan al siguiente nivel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cascada (Metas de TI)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412480" y="397764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EG08 obtuvo el máximo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 conecta 3 de los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objetivos institucionales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(OE4, OE10 y OE14)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BCRP · Gobierno de TI · COBIT 2019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2 Y 3 DE LA CASCADA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de TI → Procesos COBIT priorizados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Segunda Cascada: Metas de TI priorizadas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39496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de TI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C8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AG07 — Seguridad de la información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AG08 — Integración de aplicaciones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AG05 — Servicios TI alineados al negocio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AG06 — Agilidad en soluciones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AG09 — Programas en tiempo y calidad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AG11 — Cumplimiento políticas internas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Tercera Cascada: Top procesos COBIT (de 40)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011680"/>
          <a:ext cx="539496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6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DSS05 — Servicios de seguridad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DSS04 — Continuidad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APO13 — Seguridad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BAI03 — Construcción de soluciones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8888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APO12 — Riesgo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EDM03 — Optimización del riesgo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FF5F9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51937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procesos centrales seleccionados para el desarrollo profundo: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77240" y="548640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APO12  ·  EDM03  ·  APO13  ·  DSS05  ·  DSS04  ·  MEA03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BCRP · Gobierno de TI · COBIT 2019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SEGUNDA HERRAMIENTA DEL MARCO COBIT 2019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Diseño del Sistema de Gobierno (ISACA)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Mientras la Cascada parte de los objetivos institucionales, el Kit de Diseño parte de 10 factores contextuales del BCRP (estrategia, riesgo, amenazas, cumplimiento, etc.) y calcula automáticamente la importancia de los 40 procesos COBIT.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4572000" cy="0"/>
          </a:xfrm>
          <a:prstGeom prst="line">
            <a:avLst/>
          </a:prstGeom>
          <a:noFill/>
          <a:ln w="15240">
            <a:solidFill>
              <a:srgbClr val="C996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60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10 hojas del Kit (DF1 a DF10) se llenaron con evidencia real del PETI BCRP 2022-2026, no con criterio subjetivo.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BCRP · Gobierno de TI · COBIT 2019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DE DISEÑO 1 Y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Empresarial y Metas Empresariales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7F5F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DF1 — Estrategia Empresarial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Conteo de los 5 objetivos institucionales por arquetipo: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 al cliente / Estabilidad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0" y="26517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3/5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92040" y="2679192"/>
            <a:ext cx="365760" cy="310896"/>
          </a:xfrm>
          <a:prstGeom prst="ellipse">
            <a:avLst/>
          </a:prstGeom>
          <a:solidFill>
            <a:srgbClr val="C9962E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2679192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 / Diferenciación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0" y="3154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2/5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92040" y="3182112"/>
            <a:ext cx="365760" cy="310896"/>
          </a:xfrm>
          <a:prstGeom prst="ellipse">
            <a:avLst/>
          </a:prstGeom>
          <a:solidFill>
            <a:srgbClr val="C9962E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3182112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Liderazgo en costos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0" y="3657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0/5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92040" y="3685032"/>
            <a:ext cx="365760" cy="310896"/>
          </a:xfrm>
          <a:prstGeom prst="ellipse">
            <a:avLst/>
          </a:prstGeom>
          <a:solidFill>
            <a:srgbClr val="C9962E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685032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160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Crecimiento / Adquisición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0" y="4160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0/5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92040" y="4187952"/>
            <a:ext cx="365760" cy="310896"/>
          </a:xfrm>
          <a:prstGeom prst="ellipse">
            <a:avLst/>
          </a:prstGeom>
          <a:solidFill>
            <a:srgbClr val="C9962E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4187952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2200" y="16916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F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DF2 — Metas Empresariales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22402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derivó matemáticamente de la Primera Cascada (no se inventó un valor nuevo):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0" y="2834640"/>
            <a:ext cx="5029200" cy="777240"/>
          </a:xfrm>
          <a:prstGeom prst="roundRect">
            <a:avLst>
              <a:gd name="adj" fmla="val 7059"/>
            </a:avLst>
          </a:prstGeom>
          <a:solidFill>
            <a:srgbClr val="0F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9443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996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 = redondeo [ 1 + (Suma−2) × 4/6 ]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40080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Rango real observado en la cascada: 2 (mínimo, EG09) a 8 (máximo, EG08)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0" y="4206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EG08 = 8 puntos  →  Valor DF2 = 5 (máximo)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0" y="4572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EG09 = 2 puntos  →  Valor DF2 = 1 (mínimo)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0" y="5074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5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Así, ambas herramientas mantienen exactamente el mismo orden de prioridad.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BCRP · Gobierno de TI · COBIT 2019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DE DISEÑO 3 Y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 Riesgo y Problemas de TI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DF3 — Riesgos calificados con Impacto y Probabilidad (escala 1-5), según evidencia del PETI: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31520"/>
                <a:gridCol w="731520"/>
                <a:gridCol w="6126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Categoría de Riesgo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Evidencia PETI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Ataques lógicos (malware, ransomware)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64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64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Refuerzo de defensa contra ciberataques (brecha activa)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Acciones no autorizadas (fraude)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64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64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Precedente sectorial de fraude vía SWIFT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Gestión de datos e información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64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A64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Datamarts parciales entre gerencias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Incidentes de infraestructura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2 data centers, sin 3ro de respaldo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DF4 — Problemas calificados como GRAVES (valor 3 de 3):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4983480"/>
            <a:ext cx="164592" cy="164592"/>
          </a:xfrm>
          <a:prstGeom prst="ellipse">
            <a:avLst/>
          </a:prstGeom>
          <a:solidFill>
            <a:srgbClr val="A6402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4892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Incidentes significativos de seguridad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4983480"/>
            <a:ext cx="164592" cy="164592"/>
          </a:xfrm>
          <a:prstGeom prst="ellipse">
            <a:avLst/>
          </a:prstGeom>
          <a:solidFill>
            <a:srgbClr val="A6402F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0" y="4892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con habilidades insuficientes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46720" y="4983480"/>
            <a:ext cx="164592" cy="164592"/>
          </a:xfrm>
          <a:prstGeom prst="ellipse">
            <a:avLst/>
          </a:prstGeom>
          <a:solidFill>
            <a:srgbClr val="A6402F"/>
          </a:solidFill>
          <a:ln/>
        </p:spPr>
      </p:sp>
      <p:sp>
        <p:nvSpPr>
          <p:cNvPr id="12" name="Text 9"/>
          <p:cNvSpPr/>
          <p:nvPr/>
        </p:nvSpPr>
        <p:spPr>
          <a:xfrm>
            <a:off x="8321040" y="4892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 de TI que llegan tarde (LBTR/SIMC)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5577840"/>
            <a:ext cx="164592" cy="164592"/>
          </a:xfrm>
          <a:prstGeom prst="ellipse">
            <a:avLst/>
          </a:prstGeom>
          <a:solidFill>
            <a:srgbClr val="A6402F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5486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legacy obstaculiza modernización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297680" y="5577840"/>
            <a:ext cx="164592" cy="164592"/>
          </a:xfrm>
          <a:prstGeom prst="ellipse">
            <a:avLst/>
          </a:prstGeom>
          <a:solidFill>
            <a:srgbClr val="A6402F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0" y="5486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e integración de datos deficiente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46720" y="5577840"/>
            <a:ext cx="164592" cy="164592"/>
          </a:xfrm>
          <a:prstGeom prst="ellipse">
            <a:avLst/>
          </a:prstGeom>
          <a:solidFill>
            <a:srgbClr val="A6402F"/>
          </a:solidFill>
          <a:ln/>
        </p:spPr>
      </p:sp>
      <p:sp>
        <p:nvSpPr>
          <p:cNvPr id="18" name="Text 15"/>
          <p:cNvSpPr/>
          <p:nvPr/>
        </p:nvSpPr>
        <p:spPr>
          <a:xfrm>
            <a:off x="8321040" y="5486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certificación SWIFT CSP / ISO 27001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BCRP · Gobierno de TI · COBIT 2019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FACTORES DE DISEÑO 5 AL 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contextual del BCRP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84448" cy="2103120"/>
          </a:xfrm>
          <a:prstGeom prst="roundRect">
            <a:avLst>
              <a:gd name="adj" fmla="val 3478"/>
            </a:avLst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218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Amenazas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Alto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3218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prioritario de actores avanzados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88536" y="1691640"/>
            <a:ext cx="3584448" cy="2103120"/>
          </a:xfrm>
          <a:prstGeom prst="roundRect">
            <a:avLst>
              <a:gd name="adj" fmla="val 3478"/>
            </a:avLst>
          </a:prstGeom>
          <a:solidFill>
            <a:srgbClr val="0F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471416" y="1828800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71416" y="2103120"/>
            <a:ext cx="3218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71416" y="2468880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Alto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71416" y="2926080"/>
            <a:ext cx="3218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Constitución, Ley Orgánica, BIS, SWIFT CSP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28432" y="1691640"/>
            <a:ext cx="3584448" cy="2103120"/>
          </a:xfrm>
          <a:prstGeom prst="roundRect">
            <a:avLst>
              <a:gd name="adj" fmla="val 3478"/>
            </a:avLst>
          </a:prstGeom>
          <a:solidFill>
            <a:srgbClr val="0F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211312" y="1828800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11312" y="2103120"/>
            <a:ext cx="3218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de TI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11312" y="2468880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Fábrica + Estratégico (5/5)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11312" y="2926080"/>
            <a:ext cx="3218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LBTR 24/7 y PETI aprobado al más alto nivel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84448" cy="2103120"/>
          </a:xfrm>
          <a:prstGeom prst="roundRect">
            <a:avLst>
              <a:gd name="adj" fmla="val 3478"/>
            </a:avLst>
          </a:prstGeom>
          <a:solidFill>
            <a:srgbClr val="EF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69080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343400"/>
            <a:ext cx="3218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Abastecimiento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Insourced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5166360"/>
            <a:ext cx="3218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críticos gestionados internamente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88536" y="3931920"/>
            <a:ext cx="3584448" cy="2103120"/>
          </a:xfrm>
          <a:prstGeom prst="roundRect">
            <a:avLst>
              <a:gd name="adj" fmla="val 3478"/>
            </a:avLst>
          </a:prstGeom>
          <a:solidFill>
            <a:srgbClr val="EF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4471416" y="4069080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DF9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71416" y="4343400"/>
            <a:ext cx="3218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71416" y="4709160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Tradicional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71416" y="5166360"/>
            <a:ext cx="3218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financieros exigen control formal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28432" y="3931920"/>
            <a:ext cx="3584448" cy="2103120"/>
          </a:xfrm>
          <a:prstGeom prst="roundRect">
            <a:avLst>
              <a:gd name="adj" fmla="val 3478"/>
            </a:avLst>
          </a:prstGeom>
          <a:solidFill>
            <a:srgbClr val="EF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8211312" y="4069080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DF10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11312" y="4343400"/>
            <a:ext cx="3218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Adopción tecnológica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11312" y="4709160"/>
            <a:ext cx="3218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Seguidor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11312" y="5166360"/>
            <a:ext cx="32186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Adopta estándares ya probados (ISO 20022)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BCRP · Gobierno de TI · COBIT 2019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CONSOLIDACIÓN AUTOMÁTICA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Canvas: ¿Coinciden ambas herramientas?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entre el puntaje manual de la Tercera Cascada y el puntaje automático del Canvas (Kit ISACA):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8686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463040"/>
                <a:gridCol w="164592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Proceso COBIT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Cascada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Canvas (ISACA)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¿Coincide?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APO12 — Gestionar el riesgo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D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EDM03 — Optimización del riesgo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D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APO13 — Gestionar la seguridad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D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DSS05 — Servicios de seguridad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D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DSS04 — Gestionar la continuidad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D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MEA03 — Cumplimiento externo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D7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509760" y="2103120"/>
            <a:ext cx="2103120" cy="3657600"/>
          </a:xfrm>
          <a:prstGeom prst="roundRect">
            <a:avLst>
              <a:gd name="adj" fmla="val 3478"/>
            </a:avLst>
          </a:prstGeom>
          <a:solidFill>
            <a:srgbClr val="DCF0E1"/>
          </a:solidFill>
          <a:ln/>
        </p:spPr>
      </p:sp>
      <p:sp>
        <p:nvSpPr>
          <p:cNvPr id="7" name="Text 4"/>
          <p:cNvSpPr/>
          <p:nvPr/>
        </p:nvSpPr>
        <p:spPr>
          <a:xfrm>
            <a:off x="9509760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9646920" y="32004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coincidencia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los 6 procesos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C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críticos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BCRP · Gobierno de TI · COBIT 2019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JUSTIFICADA DEL EQUIPO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sugerido vs. nivel acordado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Kit de Diseño sugiere un nivel de capacidad automático, pero permite ajustarlo si existe un argumento institucional de peso: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7F5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Supervisión 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2560320"/>
            <a:ext cx="1645920" cy="1097280"/>
          </a:xfrm>
          <a:prstGeom prst="roundRect">
            <a:avLst>
              <a:gd name="adj" fmla="val 41667"/>
            </a:avLst>
          </a:prstGeom>
          <a:solidFill>
            <a:srgbClr val="E8E8E8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26974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Sugerido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15000" y="2880360"/>
            <a:ext cx="731520" cy="457200"/>
          </a:xfrm>
          <a:prstGeom prst="rightArrow">
            <a:avLst/>
          </a:prstGeom>
          <a:solidFill>
            <a:srgbClr val="C9962E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2560320"/>
            <a:ext cx="1645920" cy="1097280"/>
          </a:xfrm>
          <a:prstGeom prst="roundRect">
            <a:avLst>
              <a:gd name="adj" fmla="val 41667"/>
            </a:avLst>
          </a:prstGeom>
          <a:solidFill>
            <a:srgbClr val="0F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6974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Acordado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0" y="2377440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EF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2514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 del ajuste: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869680" y="2788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indicadores formales, ningún otro proceso puede medir su propio avance de forma confiable.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4297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5C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práctica está explícitamente permitida por la metodología: el Kit de Diseño es un punto de partida razonado, no una imposición rígida.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BCRP · Gobierno de TI · COBIT 2019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PRIORIZACIÓN A LA IMPLEMENTACIÓN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7 Componentes de COBIT 2019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591056" cy="4297680"/>
          </a:xfrm>
          <a:prstGeom prst="roundRect">
            <a:avLst>
              <a:gd name="adj" fmla="val 4598"/>
            </a:avLst>
          </a:prstGeom>
          <a:solidFill>
            <a:srgbClr val="0F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069848" y="1920240"/>
            <a:ext cx="548640" cy="548640"/>
          </a:xfrm>
          <a:prstGeom prst="ellipse">
            <a:avLst/>
          </a:prstGeom>
          <a:solidFill>
            <a:srgbClr val="C9962E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140817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D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Subprocesos, actividades y nivel de capacidad actual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03704" y="1691640"/>
            <a:ext cx="1591056" cy="4297680"/>
          </a:xfrm>
          <a:prstGeom prst="roundRect">
            <a:avLst>
              <a:gd name="adj" fmla="val 4598"/>
            </a:avLst>
          </a:prstGeom>
          <a:solidFill>
            <a:srgbClr val="1F5C8B"/>
          </a:solidFill>
          <a:ln/>
        </p:spPr>
      </p:sp>
      <p:sp>
        <p:nvSpPr>
          <p:cNvPr id="10" name="Shape 8"/>
          <p:cNvSpPr/>
          <p:nvPr/>
        </p:nvSpPr>
        <p:spPr>
          <a:xfrm>
            <a:off x="2724912" y="1920240"/>
            <a:ext cx="548640" cy="548640"/>
          </a:xfrm>
          <a:prstGeom prst="ellipse">
            <a:avLst/>
          </a:prstGeom>
          <a:solidFill>
            <a:srgbClr val="C9962E"/>
          </a:solidFill>
          <a:ln/>
        </p:spPr>
      </p:sp>
      <p:sp>
        <p:nvSpPr>
          <p:cNvPr id="11" name="Text 9"/>
          <p:cNvSpPr/>
          <p:nvPr/>
        </p:nvSpPr>
        <p:spPr>
          <a:xfrm>
            <a:off x="2724912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95144" y="269748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Estructuras Organizacionales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95144" y="3611880"/>
            <a:ext cx="140817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D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RACI: Comité de TI, Gerencia de Riesgos, GTI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58768" y="1691640"/>
            <a:ext cx="1591056" cy="4297680"/>
          </a:xfrm>
          <a:prstGeom prst="roundRect">
            <a:avLst>
              <a:gd name="adj" fmla="val 4598"/>
            </a:avLst>
          </a:prstGeom>
          <a:solidFill>
            <a:srgbClr val="0F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4379976" y="1920240"/>
            <a:ext cx="548640" cy="548640"/>
          </a:xfrm>
          <a:prstGeom prst="ellipse">
            <a:avLst/>
          </a:prstGeom>
          <a:solidFill>
            <a:srgbClr val="C9962E"/>
          </a:solidFill>
          <a:ln/>
        </p:spPr>
      </p:sp>
      <p:sp>
        <p:nvSpPr>
          <p:cNvPr id="16" name="Text 14"/>
          <p:cNvSpPr/>
          <p:nvPr/>
        </p:nvSpPr>
        <p:spPr>
          <a:xfrm>
            <a:off x="4379976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950208" y="269748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Flujos de Información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50208" y="3611880"/>
            <a:ext cx="140817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D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entra y qué sale de cada subproceso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13832" y="1691640"/>
            <a:ext cx="1591056" cy="4297680"/>
          </a:xfrm>
          <a:prstGeom prst="roundRect">
            <a:avLst>
              <a:gd name="adj" fmla="val 4598"/>
            </a:avLst>
          </a:prstGeom>
          <a:solidFill>
            <a:srgbClr val="1F5C8B"/>
          </a:solidFill>
          <a:ln/>
        </p:spPr>
      </p:sp>
      <p:sp>
        <p:nvSpPr>
          <p:cNvPr id="20" name="Shape 18"/>
          <p:cNvSpPr/>
          <p:nvPr/>
        </p:nvSpPr>
        <p:spPr>
          <a:xfrm>
            <a:off x="6035040" y="1920240"/>
            <a:ext cx="548640" cy="548640"/>
          </a:xfrm>
          <a:prstGeom prst="ellipse">
            <a:avLst/>
          </a:prstGeom>
          <a:solidFill>
            <a:srgbClr val="C9962E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05272" y="269748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y Competencias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05272" y="3611880"/>
            <a:ext cx="140817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D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CISO, Analista de Riesgos, equipo CSIRT/CERT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68896" y="1691640"/>
            <a:ext cx="1591056" cy="4297680"/>
          </a:xfrm>
          <a:prstGeom prst="roundRect">
            <a:avLst>
              <a:gd name="adj" fmla="val 4598"/>
            </a:avLst>
          </a:prstGeom>
          <a:solidFill>
            <a:srgbClr val="0F2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7690104" y="1920240"/>
            <a:ext cx="548640" cy="548640"/>
          </a:xfrm>
          <a:prstGeom prst="ellipse">
            <a:avLst/>
          </a:prstGeom>
          <a:solidFill>
            <a:srgbClr val="C9962E"/>
          </a:solidFill>
          <a:ln/>
        </p:spPr>
      </p:sp>
      <p:sp>
        <p:nvSpPr>
          <p:cNvPr id="26" name="Text 24"/>
          <p:cNvSpPr/>
          <p:nvPr/>
        </p:nvSpPr>
        <p:spPr>
          <a:xfrm>
            <a:off x="7690104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60336" y="269748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Políticas y Procedimientos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60336" y="3611880"/>
            <a:ext cx="140817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D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formales con plazos y responsables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823960" y="1691640"/>
            <a:ext cx="1591056" cy="4297680"/>
          </a:xfrm>
          <a:prstGeom prst="roundRect">
            <a:avLst>
              <a:gd name="adj" fmla="val 4598"/>
            </a:avLst>
          </a:prstGeom>
          <a:solidFill>
            <a:srgbClr val="1F5C8B"/>
          </a:solidFill>
          <a:ln/>
        </p:spPr>
      </p:sp>
      <p:sp>
        <p:nvSpPr>
          <p:cNvPr id="30" name="Shape 28"/>
          <p:cNvSpPr/>
          <p:nvPr/>
        </p:nvSpPr>
        <p:spPr>
          <a:xfrm>
            <a:off x="9345168" y="1920240"/>
            <a:ext cx="548640" cy="548640"/>
          </a:xfrm>
          <a:prstGeom prst="ellipse">
            <a:avLst/>
          </a:prstGeom>
          <a:solidFill>
            <a:srgbClr val="C9962E"/>
          </a:solidFill>
          <a:ln/>
        </p:spPr>
      </p:sp>
      <p:sp>
        <p:nvSpPr>
          <p:cNvPr id="31" name="Text 29"/>
          <p:cNvSpPr/>
          <p:nvPr/>
        </p:nvSpPr>
        <p:spPr>
          <a:xfrm>
            <a:off x="9345168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915400" y="269748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 y Comportamiento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915400" y="3611880"/>
            <a:ext cx="140817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D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Transparencia en el reporte de incidentes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479024" y="1691640"/>
            <a:ext cx="1591056" cy="4297680"/>
          </a:xfrm>
          <a:prstGeom prst="roundRect">
            <a:avLst>
              <a:gd name="adj" fmla="val 4598"/>
            </a:avLst>
          </a:prstGeom>
          <a:solidFill>
            <a:srgbClr val="0F2A4A"/>
          </a:solidFill>
          <a:ln/>
        </p:spPr>
      </p:sp>
      <p:sp>
        <p:nvSpPr>
          <p:cNvPr id="35" name="Shape 33"/>
          <p:cNvSpPr/>
          <p:nvPr/>
        </p:nvSpPr>
        <p:spPr>
          <a:xfrm>
            <a:off x="11000232" y="1920240"/>
            <a:ext cx="548640" cy="548640"/>
          </a:xfrm>
          <a:prstGeom prst="ellipse">
            <a:avLst/>
          </a:prstGeom>
          <a:solidFill>
            <a:srgbClr val="C9962E"/>
          </a:solidFill>
          <a:ln/>
        </p:spPr>
      </p:sp>
      <p:sp>
        <p:nvSpPr>
          <p:cNvPr id="36" name="Text 34"/>
          <p:cNvSpPr/>
          <p:nvPr/>
        </p:nvSpPr>
        <p:spPr>
          <a:xfrm>
            <a:off x="11000232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0570464" y="269748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 e Infraestructura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570464" y="3611880"/>
            <a:ext cx="1408176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DE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SIEM, HSM, tercer data center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BCRP · Gobierno de TI · COBIT 2019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HALLAZGO TRANSVERSAL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causa raíz común detrás de las 6 brechas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7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los 6 procesos desarrollados (APO12, EDM03, APO13, DSS05, DSS04, MEA03), el nivel de capacidad actual es de Nivel 1 o 2, mientras que el nivel objetivo es de Nivel 3 o 4.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10515600" cy="1371600"/>
          </a:xfrm>
          <a:prstGeom prst="roundRect">
            <a:avLst>
              <a:gd name="adj" fmla="val 6667"/>
            </a:avLst>
          </a:prstGeom>
          <a:solidFill>
            <a:srgbClr val="16395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1148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causa común: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443484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existe, hasta hoy, un Comité de Gobierno de TI formalmente institucionalizado bajo COBIT 2019 en el BCRP.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BCRP · Gobierno de TI · COBIT 2019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DEL PROYECTO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C996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caminos, un mismo destino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07568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Cascada y Kit ISACA llegan a la misma conclusión cuando se alimentan con la misma evidencia institucional.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C9962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7889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perfil del BCRP es claro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12724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Estabilidad, rol estratégico de TI y adopción tecnológica como Seguidor — coherente con su naturaleza de banco central.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C996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8404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brecha de fondo es de gobierno, no técnica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17880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ausencia de un Comité de Gobierno de TI formal explica el bajo nivel de madurez transversal.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C9962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8920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está listo para implementarse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523036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diseño está documentado, priorizado y validado con evidencia cruzada entre dos herramientas oficiales.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BCRP · Gobierno de TI · COBIT 2019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_bcrp/logo_upe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463040"/>
            <a:ext cx="1371600" cy="7680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9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Central de Reserva del Perú — Diseño del Sistema de Gobierno de TI bajo COBIT® 2019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4114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Peruana Unión ·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del Sistema de Gobierno de TI - BCRP</dc:title>
  <dc:subject>PptxGenJS Presentation</dc:subject>
  <dc:creator>BCRP - Grupo COBIT 2019</dc:creator>
  <cp:lastModifiedBy>BCRP - Grupo COBIT 2019</cp:lastModifiedBy>
  <cp:revision>1</cp:revision>
  <dcterms:created xsi:type="dcterms:W3CDTF">2026-06-18T11:52:27Z</dcterms:created>
  <dcterms:modified xsi:type="dcterms:W3CDTF">2026-06-18T11:52:27Z</dcterms:modified>
</cp:coreProperties>
</file>